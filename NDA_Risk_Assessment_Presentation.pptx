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20040"/>
            <a:ext cx="502920" cy="50292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20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NDA Automated Risk 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914400"/>
            <a:ext cx="7772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9875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Topic &amp; Base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5087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RESEARCH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938528"/>
            <a:ext cx="4434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Multi-Label Classification of NDA Clauses using Legal Language Models for Automated Document Risk Assessment &amp; Signing Verification.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93008"/>
            <a:ext cx="1325880" cy="38404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49300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Legal NLP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493008"/>
            <a:ext cx="1325880" cy="3840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49300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Transformers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493008"/>
            <a:ext cx="1325880" cy="38404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49300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Contract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0690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462272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>
                <a:solidFill>
                  <a:srgbClr val="B0BEC5"/>
                </a:solidFill>
              </a:rPr>
              <a:t>  * Kleister-NDA Benchmark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B0BEC5"/>
                </a:solidFill>
              </a:rPr>
              <a:t>  * 20 NDA documents  |  717 clauses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B0BEC5"/>
                </a:solidFill>
              </a:rPr>
              <a:t>  * 14 legal taxonomy categories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B0BEC5"/>
                </a:solidFill>
              </a:rPr>
              <a:t>  * Document-disjoint split (0 overlap)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15087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BASE PAPER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938528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"A Two-Stage Architecture for NDA Analysis:
 LLM-based Segmentation and
 Transformer-based Clause Classification"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3291840"/>
            <a:ext cx="649224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3342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DATASET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342640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Kleister-NDA  *  322 docs / 3,714 clauses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4041648"/>
            <a:ext cx="649224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4092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CATEGORIES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092448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14 approved legal taxonomy labels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4791456"/>
            <a:ext cx="649224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4842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842256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Two-stage: LLM Segment -&gt; Transformer Classify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5541264"/>
            <a:ext cx="6492240" cy="65836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5592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GAP ADDRESSED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592064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Clause-level annotations not public;
Project builds pseudo-labels via Gemini 3-model ensemble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</a:rPr>
              <a:t>NDA Risk Assessment  |  Research Presentation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0040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914400"/>
            <a:ext cx="54864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9875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What this project aims to achieve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394960" cy="21945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394960" cy="6350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73352"/>
            <a:ext cx="502920" cy="3200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733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6459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8C2"/>
                </a:solidFill>
              </a:rPr>
              <a:t>Architecture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67128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C5"/>
                </a:solidFill>
              </a:rPr>
              <a:t>Compare legal-domain (Legal-RoBERTa, Legal-BERT) vs. general-domain (DeBERTa-v3) transformers for NDA multi-label clause classification.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508760"/>
            <a:ext cx="5394960" cy="21945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508760"/>
            <a:ext cx="5394960" cy="6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673352"/>
            <a:ext cx="502920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733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16459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Imbalance-Aware Loss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67128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C5"/>
                </a:solidFill>
              </a:rPr>
              <a:t>Quantify the effect of Class-Weighted BCE &amp; Multi-Label Focal Loss on minority class recall and overall Macro F1 under extreme class imbalance.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5394960" cy="21945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5394960" cy="635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96512"/>
            <a:ext cx="502920" cy="32004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965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069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Pseudo-Label Confidence Trade-off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90288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C5"/>
                </a:solidFill>
              </a:rPr>
              <a:t>Evaluate whether filtering Gemini LLM ensemble pseudo-labels by confidence level improves or hurts downstream classifier performance.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931920"/>
            <a:ext cx="5394960" cy="21945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931920"/>
            <a:ext cx="5394960" cy="635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4096512"/>
            <a:ext cx="50292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965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4069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Threshold Optimization &amp; Risk 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90288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EC5"/>
                </a:solidFill>
              </a:rPr>
              <a:t>Optimize decision boundary on validation data and deploy the best model as an end-to-end NDA PDF risk tool with signing recommendation.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</a:rPr>
              <a:t>NDA Risk Assessment  |  Research Presentation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0040"/>
            <a:ext cx="502920" cy="50292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Trained -- Why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914400"/>
            <a:ext cx="822960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24128"/>
            <a:ext cx="11430000" cy="5486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2412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Best Model: Legal-RoBERTa + Class-Weighted BCE (EXP-03 @ threshold 0.60)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55648"/>
            <a:ext cx="5029200" cy="98755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55648"/>
            <a:ext cx="5029200" cy="635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191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9D353"/>
                </a:solidFill>
              </a:rPr>
              <a:t>[WINNER]  Legal-RoBERTa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3969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saibo/legal-roberta-base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5000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Pre-trained on court cases, legislation &amp; contracts.
Superior legal domain knowledge -- Best performer.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34640"/>
            <a:ext cx="5029200" cy="98755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5029200" cy="6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981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[2nd]  Legal-BERT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186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nlpaueb/legal-bert-base-uncased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2900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Pre-trained on EU/US legal texts.
Reasonable legal context but lower than RoBERTa.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13632"/>
            <a:ext cx="5029200" cy="98755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13632"/>
            <a:ext cx="5029200" cy="635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771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[3rd]  DeBERTa-v3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976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C5"/>
                </a:solidFill>
              </a:rPr>
              <a:t>microsoft/deberta-v3-base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0799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Disentangled attention (general-domain).
Lacks legal pre-training -- lowest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75564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Pipeline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212848"/>
            <a:ext cx="6035040" cy="5943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60720" y="2212848"/>
            <a:ext cx="502920" cy="59436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2509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PDF 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5328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PyMuPDF text extraction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926080"/>
            <a:ext cx="6035040" cy="5943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720" y="2926080"/>
            <a:ext cx="502920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9641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Clause Segmentation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246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Rule-based + LLM-assisted splitter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639312"/>
            <a:ext cx="6035040" cy="5943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720" y="3639312"/>
            <a:ext cx="502920" cy="5943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6774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Tokenization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593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AutoTokenizer (max 512 tokens)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4352544"/>
            <a:ext cx="6035040" cy="5943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720" y="4352544"/>
            <a:ext cx="502920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3906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Legal-RoBERTa Enc.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6725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768-dim contextual embeddings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5065776"/>
            <a:ext cx="6035040" cy="5943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60720" y="5065776"/>
            <a:ext cx="502920" cy="594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1038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Multi-Label Head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3858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14-unit sigmoid + Class-Wt. BCE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5779008"/>
            <a:ext cx="6035040" cy="5943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60720" y="5779008"/>
            <a:ext cx="502920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58171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Risk Scoring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60990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Threshold 0.60 -&gt; Risk Index (0-100)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</a:rPr>
              <a:t>NDA Risk Assessment  |  Research Presentation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0040"/>
            <a:ext cx="502920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Evaluation Parameters &amp;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914400"/>
            <a:ext cx="77724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2651760" cy="11887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51560"/>
            <a:ext cx="2651760" cy="508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9D353"/>
                </a:solidFill>
              </a:rPr>
              <a:t>0.4295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20700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+0.0620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Macro F1 @ 0.60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051560"/>
            <a:ext cx="2651760" cy="11887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051560"/>
            <a:ext cx="265176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3552" y="120700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</a:rPr>
              <a:t>0.3853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120700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+0.1047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Minority F1 @ 0.60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051560"/>
            <a:ext cx="2651760" cy="11887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051560"/>
            <a:ext cx="2651760" cy="50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120700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6B35"/>
                </a:solidFill>
              </a:rPr>
              <a:t>0.1283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7264" y="120700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-46.9% FP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Hamming Loss @ 0.60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9136" y="1051560"/>
            <a:ext cx="2651760" cy="11887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9136" y="1051560"/>
            <a:ext cx="2651760" cy="50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120700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9B59B6"/>
                </a:solidFill>
              </a:rPr>
              <a:t>0.3885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35056" y="120700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9D353"/>
                </a:solidFill>
              </a:rPr>
              <a:t>+0.0430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MCC @ 0.60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4231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9-Experiment Matrix (default threshold 0.50)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16352"/>
            <a:ext cx="502920" cy="34747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81635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2816352"/>
            <a:ext cx="640080" cy="34747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28163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Exp 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2816352"/>
            <a:ext cx="2011680" cy="34747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8760" y="28163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2816352"/>
            <a:ext cx="2331720" cy="34747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40" y="281635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Loss Function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2816352"/>
            <a:ext cx="1417320" cy="347472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281635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 Macro F1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163824"/>
            <a:ext cx="50292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1638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3163824"/>
            <a:ext cx="64008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316382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EXP-03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08760" y="3163824"/>
            <a:ext cx="201168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08760" y="31638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Legal-RoBERTa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3163824"/>
            <a:ext cx="233172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0440" y="316382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Class-Weighted BCE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160" y="3163824"/>
            <a:ext cx="141732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0" y="31638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9D353"/>
                </a:solidFill>
              </a:rPr>
              <a:t>0.3675  [BEST]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511296"/>
            <a:ext cx="5029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511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" y="3511296"/>
            <a:ext cx="6400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351129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EXP-06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08760" y="3511296"/>
            <a:ext cx="20116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08760" y="35112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Legal-BERT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20440" y="3511296"/>
            <a:ext cx="23317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20440" y="351129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Class-Weighted BCE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3511296"/>
            <a:ext cx="14173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160" y="351129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0.3047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3858768"/>
            <a:ext cx="50292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38587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" y="3858768"/>
            <a:ext cx="64008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" y="38587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EXP-09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08760" y="3858768"/>
            <a:ext cx="201168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08760" y="38587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DeBERTa-v3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20440" y="3858768"/>
            <a:ext cx="233172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20440" y="385876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Class-Weighted BCE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60" y="3858768"/>
            <a:ext cx="141732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60" y="385876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0.2739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206240"/>
            <a:ext cx="5029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420624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8680" y="4206240"/>
            <a:ext cx="6400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" y="42062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EXP-01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08760" y="4206240"/>
            <a:ext cx="201168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08760" y="42062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Legal-RoBERTa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520440" y="4206240"/>
            <a:ext cx="23317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20440" y="420624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BCE (Standard)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52160" y="4206240"/>
            <a:ext cx="14173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52160" y="42062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0.0492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553712"/>
            <a:ext cx="50292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55371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8680" y="4553712"/>
            <a:ext cx="64008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8680" y="455371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EXP-05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08760" y="4553712"/>
            <a:ext cx="201168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08760" y="45537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Legal-BERT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20440" y="4553712"/>
            <a:ext cx="233172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20440" y="45537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Focal Loss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52160" y="4553712"/>
            <a:ext cx="1417320" cy="34747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160" y="45537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444"/>
                </a:solidFill>
              </a:rPr>
              <a:t>0.0000  [FAIL]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32320" y="24231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Threshold Sweep (Validation Macro F1)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132320" y="2816352"/>
            <a:ext cx="757214" cy="32004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32320" y="28163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</a:rPr>
              <a:t>0.30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62686" y="281635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0.2366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32320" y="3209544"/>
            <a:ext cx="987643" cy="32004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32320" y="32095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</a:rPr>
              <a:t>0.40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93115" y="32095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0.3086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32320" y="3602736"/>
            <a:ext cx="1240155" cy="32004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132320" y="36027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</a:rPr>
              <a:t>0.50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45627" y="360273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0.3875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32320" y="3995928"/>
            <a:ext cx="1378092" cy="32004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32320" y="39959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0.60 [OPT]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83564" y="39959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9D353"/>
                </a:solidFill>
              </a:rPr>
              <a:t>0.4306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32320" y="4389120"/>
            <a:ext cx="1253596" cy="320040"/>
          </a:xfrm>
          <a:prstGeom prst="rect">
            <a:avLst/>
          </a:prstGeom>
          <a:solidFill>
            <a:srgbClr val="B0BE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32320" y="43891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5"/>
                </a:solidFill>
              </a:rPr>
              <a:t>0.70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59068" y="4389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0.3917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074920"/>
            <a:ext cx="11430000" cy="64008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5102352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Pseudo-Label Ablation:  ALL-VALID (344 clauses) F1=0.3477  vs  HIGH+MEDIUM (201) F1=0.2748  vs  HIGH-ONLY (161) F1=0.2485
=&gt; More training volume beats confidence filtering under extreme class imbalance.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5760" y="5806440"/>
            <a:ext cx="3520440" cy="54864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7200" y="5806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Additional Info   F1=0.6494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160520" y="5806440"/>
            <a:ext cx="3520440" cy="548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51960" y="5806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Liability/Damages F1=0.5957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955280" y="5806440"/>
            <a:ext cx="3520440" cy="5486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46720" y="5806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IP Rights         F1=0.5714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</a:rPr>
              <a:t>NDA Risk Assessment  |  Research Presentation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320040"/>
            <a:ext cx="502920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20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Planned Improvements &amp;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914400"/>
            <a:ext cx="777240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98755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Future roadmap to push Macro F1 beyond 0.60+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3749039" cy="21031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3749039" cy="6350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1618488"/>
            <a:ext cx="384048" cy="38404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618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6184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78C2"/>
                </a:solidFill>
              </a:rPr>
              <a:t>Human-Verified Annotations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10312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Replace Gemini pseudo-labels with expert-annotated ground truth to eliminate label noise (current 32% disagreement rate) and get reliable F1 estimates.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08760"/>
            <a:ext cx="3749039" cy="21031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08760"/>
            <a:ext cx="3749039" cy="6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1618488"/>
            <a:ext cx="384048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1618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16184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D4FF"/>
                </a:solidFill>
              </a:rPr>
              <a:t>Larger &amp; Diverse NDA Corpus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10312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Scale from 20 -&gt; 100+ NDA docs across industries. Minority classes like 'NDA Type' &amp; 'Purpose' have &lt;8 clauses; more data will balance distribution.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508760"/>
            <a:ext cx="3749039" cy="21031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508760"/>
            <a:ext cx="3749039" cy="635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39328" y="1618488"/>
            <a:ext cx="384048" cy="38404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1618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6184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9D353"/>
                </a:solidFill>
              </a:rPr>
              <a:t>Contrastive Pre-training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10312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Fine-tune with contrastive loss on legal clause pairs to reduce multi-label confusion between semantically similar categories (e.g. Confidentiality vs. Disclosure).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22191"/>
            <a:ext cx="3749039" cy="21031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822191"/>
            <a:ext cx="3749039" cy="635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" y="3931919"/>
            <a:ext cx="384048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93191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93191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6B35"/>
                </a:solidFill>
              </a:rPr>
              <a:t>LLM-Based Smart Segmentation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4416551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Replace heuristic segmenter with Gemma/Mistral LLM segmenter to produce cleaner clause boundaries, improving tokenizer coverage &amp; classification quality.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822191"/>
            <a:ext cx="3749039" cy="21031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3822191"/>
            <a:ext cx="3749039" cy="635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07408" y="3931919"/>
            <a:ext cx="384048" cy="3840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393191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93191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9B59B6"/>
                </a:solidFill>
              </a:rPr>
              <a:t>RAG-Powered Clause 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4416551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Add retrieval-augmented generation to explain each risk clause with legal precedents. Lawyers need interpretable summaries, not just category labels.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3822191"/>
            <a:ext cx="3749039" cy="210312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822191"/>
            <a:ext cx="3749039" cy="635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39328" y="3931919"/>
            <a:ext cx="384048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8" y="3931919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3931919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6B35"/>
                </a:solidFill>
              </a:rPr>
              <a:t>GUI / API Deployment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8" y="4416551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Build FastAPI backend + Streamlit/React frontend to make NDA risk assessment accessible to legal professionals without CLI / technical knowledge.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EC5"/>
                </a:solidFill>
              </a:rPr>
              <a:t>NDA Risk Assessment  |  Research Presentation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